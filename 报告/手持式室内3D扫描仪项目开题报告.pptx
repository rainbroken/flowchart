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9" r:id="rId15"/>
    <p:sldId id="278" r:id="rId16"/>
    <p:sldId id="272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C6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>
        <p:guide orient="horz" pos="1640"/>
        <p:guide pos="29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各位汇报我的毕业设计项目——手持式室内3D扫描仪的研究与开发。随着数字孪生和元宇宙概念的兴起，将物理世界高效转化为数字模型变得至关重要。本项目旨在研发一款面向民用市场的手持式3D扫描仪，解决传统室内测绘方法效率低、无法提供三维模型的痛点，为室内设计、装修等行业提供革命性的数字化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分为5个部分。首先，我将介绍项目的研究背景与意义，阐述为何要做这个项目。其次，进行详细的市场分析，明确我们的目标市场和竞争环境。接着，我会具体说明本项目的研究目标和核心研究内容。第四部分将介绍我们拟采用的技术方案。第五部分分析项目的创新点和可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看国内外研究现状。国际市场上，FARO、Artec等品牌技术领先，但价格高昂，主要服务于高端工业。而在国内，以思看科技、先临三维为代表的国产品牌正在快速崛起，市场份额已超过一半。它们凭借高性价比，成功占据了中端市场。当前，混合光源、AI点云处理、无线化和免贴点扫描是行业的核心技术趋势，也是我们项目需要关注和借鉴的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以上背景，我们明确了本项目的研究目的和意义。我们的核心目标是开发一款面向民用市场的手持式3D扫描仪，重点解决轻量化、易用性和低成本这三个关键问题。理论上，这将推动SLAM等前沿算法在民用场景的应用。实践上，它将为室内设计行业提供强大的数字化工具，创造新的商业价值，并探索一条低成本高性能的技术路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市场分析。全球手持3D扫描仪市场正以超过14%的年复合增长率稳定增长。而中国市场更是全球的领头羊，市场规模预计今年将突破百亿人民币，增速超过20%。制造业升级、政策支持和新兴应用的不断涌现，是驱动市场高速增长的三大核心因素。这表明我们所处的赛道前景非常广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竞争格局方面，中国市场呈现出“国产替代”加速的趋势。从这张饼图可以看出，思看科技和先临三维占据了市场前两位，国产品牌合计占据了近六成的份额。市场集中度非常高，前五名占据了近八成的市场。高端市场仍由国际品牌主导，而我们的目标——中端市场，正是国产品牌竞争的主战场，竞争激烈但机会巨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，我将阐述本项目的研究目标与内容。我们的总体目标非常明确：打造一款高精度、高效率、易用且低成本的手持式室内3D扫描仪原型机及配套软件。为实现这一目标，我们将从四个方面展开研究：首先是系统总体方案设计，搭建软硬件的整体框架；其次是核心硬件的选型与集成，确保产品的性能与便携性平衡；第三是关键算法的研究与优化，这是保证扫描精度和建模质量的技术核心；最后是配套软件系统的开发，实现从数据采集、处理到应用输出的全流程闭环，真正满足用户的使用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第四部分，我们来看具体的技术方案。在硬件方面，我们将采用“深度相机+RGB相机+嵌入式计算平台”的架构。核心硬件选择上，我们将使用消费级的Intel RealSense深度相机来控制成本，同时搭载NVIDIA Jetson系列平台以提供强大的AI算力。此外，还会集成高精度IMU和大容量电池。机械结构将注重人体工程学设计，力求将设备重量控制在1.5公斤以内，实现真正的便携。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软件算法是本项目的核心。我们的软件流程分为三步。首先是数据采集与实时处理，通过VIO算法实时估计设备姿态并生成点云，让用户可以实时看到扫描结果。扫描结束后，进入第二步后端精细建模，通过全局优化、点云去噪和网格重建，生成高质量的三维模型。最后是应用输出，我们不仅支持导出标准3D格式，还将探索自动生成CAD图纸和轻量化模型，直接服务于室内设计和VR/AR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项目能够成功，我们从技术、市场和经济三个方面进行了可行性分析。技术上，所需的硬件和算法基础都已具备，团队也有相应的能力。市场上，需求明确，且存在明显的市场空白，商业模式清晰。经济上，我们的方案成本可控，预期收益良好，并且可以通过分阶段开发来控制风险。综合来看，本项目具有很高的可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我的汇报到此结束，感谢各位老师的聆听。这款手持式室内3D扫描仪项目不仅是一次技术探索，更是希望能为相关行业带来切实的价值。现在我非常乐意回答大家可能有的任何问题。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.svg"/><Relationship Id="rId7" Type="http://schemas.openxmlformats.org/officeDocument/2006/relationships/image" Target="../media/image6.png"/><Relationship Id="rId6" Type="http://schemas.openxmlformats.org/officeDocument/2006/relationships/image" Target="../media/image2.svg"/><Relationship Id="rId5" Type="http://schemas.openxmlformats.org/officeDocument/2006/relationships/image" Target="../media/image5.png"/><Relationship Id="rId4" Type="http://schemas.openxmlformats.org/officeDocument/2006/relationships/image" Target="../media/image1.sv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10.png"/><Relationship Id="rId4" Type="http://schemas.openxmlformats.org/officeDocument/2006/relationships/image" Target="../media/image5.svg"/><Relationship Id="rId3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15.png"/><Relationship Id="rId5" Type="http://schemas.openxmlformats.org/officeDocument/2006/relationships/image" Target="../media/image7.sv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17.png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image" Target="../media/image9.svg"/><Relationship Id="rId3" Type="http://schemas.openxmlformats.org/officeDocument/2006/relationships/image" Target="../media/image16.png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20.xml"/><Relationship Id="rId2" Type="http://schemas.openxmlformats.org/officeDocument/2006/relationships/tags" Target="../tags/tag10.xml"/><Relationship Id="rId19" Type="http://schemas.openxmlformats.org/officeDocument/2006/relationships/image" Target="../media/image12.svg"/><Relationship Id="rId18" Type="http://schemas.openxmlformats.org/officeDocument/2006/relationships/image" Target="../media/image19.png"/><Relationship Id="rId17" Type="http://schemas.openxmlformats.org/officeDocument/2006/relationships/tags" Target="../tags/tag19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image" Target="../media/image11.svg"/><Relationship Id="rId13" Type="http://schemas.openxmlformats.org/officeDocument/2006/relationships/image" Target="../media/image18.png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13.svg"/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image" Target="../media/image14.svg"/><Relationship Id="rId4" Type="http://schemas.openxmlformats.org/officeDocument/2006/relationships/image" Target="../media/image24.png"/><Relationship Id="rId3" Type="http://schemas.openxmlformats.org/officeDocument/2006/relationships/tags" Target="../tags/tag23.xml"/><Relationship Id="rId23" Type="http://schemas.openxmlformats.org/officeDocument/2006/relationships/notesSlide" Target="../notesSlides/notesSlide9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35.xml"/><Relationship Id="rId20" Type="http://schemas.openxmlformats.org/officeDocument/2006/relationships/tags" Target="../tags/tag34.xml"/><Relationship Id="rId2" Type="http://schemas.openxmlformats.org/officeDocument/2006/relationships/tags" Target="../tags/tag22.xml"/><Relationship Id="rId19" Type="http://schemas.openxmlformats.org/officeDocument/2006/relationships/image" Target="../media/image16.svg"/><Relationship Id="rId18" Type="http://schemas.openxmlformats.org/officeDocument/2006/relationships/image" Target="../media/image26.png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image" Target="../media/image15.svg"/><Relationship Id="rId11" Type="http://schemas.openxmlformats.org/officeDocument/2006/relationships/image" Target="../media/image25.png"/><Relationship Id="rId10" Type="http://schemas.openxmlformats.org/officeDocument/2006/relationships/tags" Target="../tags/tag28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image" Target="../media/image10.svg"/><Relationship Id="rId3" Type="http://schemas.openxmlformats.org/officeDocument/2006/relationships/image" Target="../media/image17.png"/><Relationship Id="rId20" Type="http://schemas.openxmlformats.org/officeDocument/2006/relationships/notesSlide" Target="../notesSlides/notesSlide10.xml"/><Relationship Id="rId2" Type="http://schemas.openxmlformats.org/officeDocument/2006/relationships/tags" Target="../tags/tag37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image" Target="../media/image18.svg"/><Relationship Id="rId15" Type="http://schemas.openxmlformats.org/officeDocument/2006/relationships/image" Target="../media/image28.png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image" Target="../media/image17.svg"/><Relationship Id="rId1" Type="http://schemas.openxmlformats.org/officeDocument/2006/relationships/tags" Target="../tags/tag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手持式室内3D扫描仪项目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429000"/>
            <a:ext cx="1066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开题报告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207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黄志雁、罗瑾仪、郑蒋</a:t>
            </a:r>
            <a:r>
              <a:rPr 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| 日期：2026年5月26</a:t>
            </a:r>
            <a:r>
              <a:rPr lang="zh-CN" alt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22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15"/>
          <p:cNvSpPr/>
          <p:nvPr/>
        </p:nvSpPr>
        <p:spPr>
          <a:xfrm>
            <a:off x="6223000" y="5080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84150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182C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032000" y="1778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研究背景与意义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项目研究背景 · 国内外研究现状 · 研究目的与意义</a:t>
            </a:r>
            <a:endParaRPr lang="en-US" sz="13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23000" y="1524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477000" y="184150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182C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493000" y="1778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市场分析与需求预测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市场规模与增长 · 竞争格局分析 · 应用需求分析</a:t>
            </a:r>
            <a:endParaRPr lang="en-US" sz="13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302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61950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182C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32000" y="3556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研究目标与内容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总体研究目标 · 具体研究内容</a:t>
            </a:r>
            <a:endParaRPr lang="en-US" sz="13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3302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361950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182C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493000" y="3556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拟采用的技术方案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硬件系统设计 · 软件算法流程 · 关键技术创新</a:t>
            </a:r>
            <a:endParaRPr lang="en-US" sz="13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39750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182C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032000" y="5334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可行性分析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技术与市场可行性</a:t>
            </a:r>
            <a:endParaRPr lang="en-US" sz="13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6"/>
          <p:cNvSpPr/>
          <p:nvPr/>
        </p:nvSpPr>
        <p:spPr>
          <a:xfrm>
            <a:off x="6477000" y="539750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182C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0" name="AutoShape 17"/>
          <p:cNvSpPr/>
          <p:nvPr/>
        </p:nvSpPr>
        <p:spPr>
          <a:xfrm>
            <a:off x="7493000" y="53975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团队分工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时间规划各组员工作内容</a:t>
            </a:r>
            <a:endParaRPr lang="zh-CN" altLang="en-US" sz="13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研究背景与意义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29667" r="29667"/>
          <a:stretch>
            <a:fillRect/>
          </a:stretch>
        </p:blipFill>
        <p:spPr>
          <a:xfrm>
            <a:off x="877570" y="1651000"/>
            <a:ext cx="1651000" cy="2286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794000" y="16510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国际发展现状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1200"/>
              </a:spcBef>
            </a:pP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技术领先：</a:t>
            </a: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FARO、Artec 3D、蔡司等巨头凭借深厚积累，垄断高精度、大尺寸测量领域。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市场格局：</a:t>
            </a: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主导高端市场，设备售价高昂(＞20万)，主要服务于航空航天、汽车制造等顶级工业场景。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23000" y="1397000"/>
            <a:ext cx="5207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13888" r="13888"/>
          <a:stretch>
            <a:fillRect/>
          </a:stretch>
        </p:blipFill>
        <p:spPr>
          <a:xfrm>
            <a:off x="6369050" y="1651000"/>
            <a:ext cx="1559560" cy="216027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128635" y="1651000"/>
            <a:ext cx="3099435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国内发展现状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1000"/>
              </a:spcBef>
            </a:pP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快速崛起：</a:t>
            </a: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思看、先临三维等品牌迅速抢占市场，2026年国产品牌份额已达58%。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市场与技术：</a:t>
            </a: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主打1-10万元高性价比市场，核心技术对标国际一线水平，凭借本地化服务优势覆盖广大中小企业。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572000"/>
            <a:ext cx="3312795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82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9715" y="4673600"/>
            <a:ext cx="1778000" cy="13455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混合光源技术</a:t>
            </a:r>
            <a:endParaRPr lang="en-US" sz="12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大幅提高设备对黑色、反光等复杂材质以及不同环境光的适应性。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651375" y="4572000"/>
            <a:ext cx="321183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9825" y="4826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628005" y="46736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无线化与便携化</a:t>
            </a:r>
            <a:endParaRPr lang="en-US" sz="12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实现设备轻量化，支持低延迟的实时数据无线传输与更长时间的续航能力。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82000" y="4572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8070" y="4826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259570" y="46736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免贴点扫描技术</a:t>
            </a:r>
            <a:endParaRPr lang="en-US" sz="12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省去繁琐的贴点标记工序，简化操作流程，极大提升用户体验和扫描效率。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研究背景与意义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研究目的与意义：聚焦民用，降低门槛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76200" cy="1905000"/>
          </a:xfrm>
          <a:prstGeom prst="roundRect">
            <a:avLst>
              <a:gd name="adj" fmla="val 0"/>
            </a:avLst>
          </a:prstGeom>
          <a:solidFill>
            <a:srgbClr val="38B2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016000" y="2148205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研究目的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016000" y="2689225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研发面向室内设计、装修市场的手持式3D扫描仪。核心目标是在保证精度和效率的前提下，实现设备的</a:t>
            </a:r>
            <a:r>
              <a:rPr lang="en-US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轻量化、易用化和低成本化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，使其真正普及到工作室、装修公司乃至普通消费者。</a:t>
            </a:r>
            <a:endParaRPr lang="en-US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762000" y="4191000"/>
            <a:ext cx="76200" cy="2286000"/>
          </a:xfrm>
          <a:prstGeom prst="roundRect">
            <a:avLst>
              <a:gd name="adj" fmla="val 0"/>
            </a:avLst>
          </a:prstGeom>
          <a:solidFill>
            <a:srgbClr val="38B2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016000" y="431419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研究意义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1016000" y="48895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理论意义：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深入探索适用于室内复杂环境的三维重建算法，推动计算机视觉和SLAM技术在民用场景的落地。</a:t>
            </a:r>
            <a:endParaRPr lang="en-US"/>
          </a:p>
          <a:p>
            <a:pPr marL="0" indent="0" algn="l">
              <a:lnSpc>
                <a:spcPct val="150000"/>
              </a:lnSpc>
            </a:pP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实践意义：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赋能行业向三维可视化转型；降低技术门槛以催生VR看房、家具定制等新商业模式；探索低成本高性能的技术路径</a:t>
            </a:r>
            <a:r>
              <a:rPr lang="zh-CN" alt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；让人形机器人专注于</a:t>
            </a:r>
            <a:r>
              <a:rPr lang="en-US" altLang="zh-CN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planner</a:t>
            </a:r>
            <a:endParaRPr lang="en-US" altLang="zh-CN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2380" y="1332865"/>
            <a:ext cx="5588000" cy="5144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市场分析与需求预测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8B2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全球市场：高景气赛道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048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48亿美元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 预计市场总规模</a:t>
            </a:r>
            <a:endParaRPr lang="en-US" sz="14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457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14.3% </a:t>
            </a:r>
            <a:r>
              <a:rPr lang="en-US" sz="14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CAGR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年复合增长率保持稳健增长，行业天花板持续抬升。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8B2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2159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中国市场：全球领跑者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048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32% </a:t>
            </a:r>
            <a:r>
              <a:rPr lang="en-US" sz="14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全球份额占比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已成为全球最大的3D扫描仪消费市场，需求旺盛。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699000" y="457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106.1亿元</a:t>
            </a:r>
            <a:r>
              <a:rPr lang="en-US" sz="14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(+21.9%)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800"/>
              </a:spcBef>
            </a:pP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2026年预计规模与增速，延续强劲高景气态势。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8B2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2159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三大核心驱动力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0" y="2921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2857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制造业智能化升级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400"/>
              </a:spcBef>
            </a:pP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工业4.0推动高精度检测与逆向工程需求激增。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0" y="3937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90000" y="3873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国家政策强力支持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400"/>
              </a:spcBef>
            </a:pP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对高端制造、专精特新及数字化转型的持续补贴。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4953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890000" y="4889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新兴应用场景爆发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400"/>
              </a:spcBef>
            </a:pP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文保数字化、新能源汽车、医疗康复等开辟新增长极。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市场分析与需求预测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238758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50000"/>
              </a:lnSpc>
              <a:buSzTx/>
              <a:defRPr/>
            </a:pPr>
            <a:r>
              <a:rPr lang="en-US" sz="16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中国市场呈现出国产品牌快速崛起、与国际品牌分庭抗礼的竞争格局，国产替代趋势显著，行业集中度进一步提升。</a:t>
            </a:r>
            <a:endParaRPr lang="en-US" sz="1600" b="1" i="0" u="none" strike="noStrike">
              <a:solidFill>
                <a:srgbClr val="38B2A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chemeClr val="bg2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13636" b="13636"/>
          <a:stretch>
            <a:fillRect/>
          </a:stretch>
        </p:blipFill>
        <p:spPr>
          <a:xfrm>
            <a:off x="1016000" y="2413000"/>
            <a:ext cx="2794000" cy="1143000"/>
          </a:xfrm>
          <a:prstGeom prst="rect">
            <a:avLst/>
          </a:prstGeom>
          <a:noFill/>
          <a:ln w="12700" cap="flat" cmpd="sng">
            <a:solidFill>
              <a:srgbClr val="EDF2F7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3683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头部企业代表 · 思看科技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6250" r="6250"/>
          <a:stretch>
            <a:fillRect/>
          </a:stretch>
        </p:blipFill>
        <p:spPr>
          <a:xfrm>
            <a:off x="1016000" y="4318000"/>
            <a:ext cx="1333500" cy="1524000"/>
          </a:xfrm>
          <a:prstGeom prst="rect">
            <a:avLst/>
          </a:prstGeom>
          <a:noFill/>
          <a:ln w="12700" cap="flat" cmpd="sng">
            <a:solidFill>
              <a:srgbClr val="EDF2F7">
                <a:alpha val="100000"/>
              </a:srgbClr>
            </a:solidFill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476500" y="4508500"/>
            <a:ext cx="133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>
                <a:solidFill>
                  <a:srgbClr val="4A5568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国产品牌在硬件性能与软件算法上持续突破，已具备与国际品牌正面竞争的实力</a:t>
            </a:r>
            <a:r>
              <a:rPr lang="en-US" sz="12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chemeClr val="bg2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35500" y="2286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2025年 市场份额分布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605" y="2667000"/>
            <a:ext cx="3336290" cy="203136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2" name="AutoShape 12"/>
          <p:cNvSpPr/>
          <p:nvPr/>
        </p:nvSpPr>
        <p:spPr>
          <a:xfrm>
            <a:off x="4699000" y="4953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F0FFFA">
              <a:alpha val="100000"/>
            </a:srgbClr>
          </a:solidFill>
          <a:ln w="12700" cap="flat" cmpd="sng">
            <a:solidFill>
              <a:srgbClr val="38B2A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826000" y="5080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行业CR5 (前五名集中度)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78.3%</a:t>
            </a:r>
            <a:endParaRPr lang="en-US" sz="2400" b="1" i="0" u="none" strike="noStrike">
              <a:solidFill>
                <a:srgbClr val="38B2A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chemeClr val="bg2">
              <a:lumMod val="20000"/>
              <a:lumOff val="80000"/>
            </a:scheme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18500" y="2286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市场分层与品牌定位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2868930"/>
            <a:ext cx="2921000" cy="1397000"/>
          </a:xfrm>
          <a:prstGeom prst="roundRect">
            <a:avLst>
              <a:gd name="adj" fmla="val 7272"/>
            </a:avLst>
          </a:prstGeom>
          <a:solidFill>
            <a:srgbClr val="EBF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5500" y="302895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890000" y="299593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52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高端市场 (&gt;25万元)</a:t>
            </a:r>
            <a:endParaRPr lang="en-US" sz="1200"/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由国际品牌如 FARO、Creaform 主导，主要应用于航空航天、精密制造等专业领域。</a:t>
            </a:r>
            <a:endParaRPr 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318500" y="4497705"/>
            <a:ext cx="2921000" cy="1397000"/>
          </a:xfrm>
          <a:prstGeom prst="roundRect">
            <a:avLst>
              <a:gd name="adj" fmla="val 7272"/>
            </a:avLst>
          </a:prstGeom>
          <a:solidFill>
            <a:srgbClr val="F0FF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5500" y="45847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890000" y="4624705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85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中端市场 (1-10万元)</a:t>
            </a:r>
            <a:endParaRPr lang="en-US" sz="1200"/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国产品牌的核心“主战场”，思看、先临等企业通过高性价比与本土化服务快速抢占份额。</a:t>
            </a:r>
            <a:endParaRPr 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研究目标与内容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651000"/>
          </a:xfrm>
          <a:prstGeom prst="roundRect">
            <a:avLst>
              <a:gd name="adj" fmla="val 9230"/>
            </a:avLst>
          </a:prstGeom>
          <a:solidFill>
            <a:srgbClr val="E6FFFA">
              <a:alpha val="100000"/>
            </a:srgbClr>
          </a:solidFill>
          <a:ln w="12700" cap="flat" cmpd="sng">
            <a:solidFill>
              <a:srgbClr val="CCFBF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1600" cy="1651000"/>
          </a:xfrm>
          <a:prstGeom prst="roundRect">
            <a:avLst>
              <a:gd name="adj" fmla="val 150000"/>
            </a:avLst>
          </a:prstGeom>
          <a:solidFill>
            <a:srgbClr val="38B2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1587500"/>
            <a:ext cx="990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总体研究目标</a:t>
            </a:r>
            <a:endParaRPr lang="en-US" sz="12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研发一款集</a:t>
            </a:r>
            <a:r>
              <a:rPr lang="en-US" sz="16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高精度、高效率、易用性、低成本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于一体的手持式室内3D扫描仪原型机，并开发配套的快速建模与应用输出软件，满足室内设计装修</a:t>
            </a: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、机器人</a:t>
            </a:r>
            <a:r>
              <a:rPr lang="en-US" altLang="zh-CN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3d</a:t>
            </a: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建图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的核心需求。</a:t>
            </a:r>
            <a:endParaRPr lang="en-US" sz="16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762000" y="3302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6576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778000" y="34925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系统总体方案设计</a:t>
            </a:r>
            <a:endParaRPr lang="en-US" sz="12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确定硬件架构（传感器、处理器、电源）和软件流程，为原型机开发奠定整体框架。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6223000" y="3302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6576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7239000" y="34925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核心硬件选型与集成</a:t>
            </a:r>
            <a:endParaRPr lang="en-US" sz="12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研究对比不同深度相机，选择高性价比嵌入式计算平台，设计符合人体工学的轻量化机身及高效电源管理模块。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762000" y="4953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53086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1778000" y="51435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关键算法研究与优化</a:t>
            </a:r>
            <a:endParaRPr lang="en-US" sz="12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攻克室内场景SLAM、点云配准与融合算法难点，并引入场景理解与语义分割技术，提升扫描精度与建模质量。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6223000" y="4953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77000" y="53086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7239000" y="51435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配套软件系统开发</a:t>
            </a:r>
            <a:endParaRPr lang="en-US" sz="12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开发端到端软件体系，包含设备实时预览控制、后端点云自动建模与编辑，以及适配主流CAD软件的应用输出模块。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2032000"/>
            <a:ext cx="4064000" cy="4191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2757805"/>
            <a:ext cx="1638300" cy="1642745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拟采用的技术方案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硬件系统设计：基于消费级硬件的高性能系统</a:t>
            </a:r>
            <a:endParaRPr lang="en-US" sz="1800" b="1">
              <a:solidFill>
                <a:srgbClr val="38B2A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1923" r="1923"/>
          <a:stretch>
            <a:fillRect/>
          </a:stretch>
        </p:blipFill>
        <p:spPr>
          <a:xfrm>
            <a:off x="946150" y="2294890"/>
            <a:ext cx="1098550" cy="1143000"/>
          </a:xfrm>
          <a:prstGeom prst="roundRect">
            <a:avLst>
              <a:gd name="adj" fmla="val 64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946150" y="4889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核心硬件模块：</a:t>
            </a:r>
            <a:br>
              <a:rPr lang="en-US" sz="16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深度相机</a:t>
            </a:r>
            <a:r>
              <a:rPr lang="zh-CN" altLang="en-US" sz="16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6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3d</a:t>
            </a:r>
            <a:r>
              <a:rPr lang="zh-CN" altLang="en-US" sz="16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雷达，</a:t>
            </a:r>
            <a:r>
              <a:rPr lang="en-US" sz="16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计算平台</a:t>
            </a:r>
            <a:endParaRPr lang="en-US" sz="16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207000" y="2032000"/>
            <a:ext cx="6223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207000" y="2032000"/>
            <a:ext cx="76200" cy="2794000"/>
          </a:xfrm>
          <a:prstGeom prst="roundRect">
            <a:avLst>
              <a:gd name="adj" fmla="val 0"/>
            </a:avLst>
          </a:prstGeom>
          <a:solidFill>
            <a:srgbClr val="38B2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461000" y="2222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核心架构：多传感器融合与高性能计算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61000" y="2857500"/>
            <a:ext cx="2730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深度与视觉感知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A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选用Intel RealSense结构光深度相机与3d</a:t>
            </a:r>
            <a:r>
              <a:rPr lang="zh-CN" altLang="en-US" sz="1200" b="0" i="0" u="none" strike="noStrike">
                <a:solidFill>
                  <a:srgbClr val="4A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雷达</a:t>
            </a:r>
            <a:r>
              <a:rPr lang="en-US" altLang="zh-CN" sz="1200" b="0" i="0" u="none" strike="noStrike">
                <a:solidFill>
                  <a:srgbClr val="4A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mid360</a:t>
            </a:r>
            <a:r>
              <a:rPr lang="en-US" sz="1200" b="0" i="0" u="none" strike="noStrike">
                <a:solidFill>
                  <a:srgbClr val="4A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，兼顾测距精度与纹理信息采集。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运动与续航保障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A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集成高精度IMU辅助SLAM算法；配备6000mAh大容量锂电池，确保长时间作业。</a:t>
            </a:r>
            <a:endParaRPr lang="en-US" sz="1200" b="0" i="0" u="none" strike="noStrike">
              <a:solidFill>
                <a:srgbClr val="4A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382000" y="2857500"/>
            <a:ext cx="2730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嵌入式AI算力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A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搭载Inetl nuc高性能计算模块，为实时3D重建与AI处理任务提供充足算力。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系统协同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A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实现“感知-计算-传输”全链路低延迟协同，保证系统整体响应速度。</a:t>
            </a:r>
            <a:endParaRPr lang="en-US" sz="1200" b="0" i="0" u="none" strike="noStrike">
              <a:solidFill>
                <a:srgbClr val="4A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207000" y="4953000"/>
            <a:ext cx="6223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207000" y="4953000"/>
            <a:ext cx="76200" cy="1270000"/>
          </a:xfrm>
          <a:prstGeom prst="roundRect">
            <a:avLst>
              <a:gd name="adj" fmla="val 0"/>
            </a:avLst>
          </a:prstGeom>
          <a:solidFill>
            <a:srgbClr val="ED89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1000" y="5270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223000" y="52070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机械结构：轻量化与人体工程学设计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4A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将所有核心硬件模块集成于定制化手持手柄中，整体设计符合人体工学，设备总重量严格控制在</a:t>
            </a:r>
            <a:r>
              <a:rPr lang="en-US" sz="12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1.5kg</a:t>
            </a:r>
            <a:r>
              <a:rPr lang="en-US" sz="1200" b="0" i="0" u="none" strike="noStrike">
                <a:solidFill>
                  <a:srgbClr val="4A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以内，确保长时间操作的便携性与舒适度。</a:t>
            </a:r>
            <a:endParaRPr lang="en-US" sz="1200" b="0" i="0" u="none" strike="noStrike">
              <a:solidFill>
                <a:srgbClr val="4A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925" y="2294890"/>
            <a:ext cx="155511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7FAFC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技术方案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软件算法流程：从数据采集到应用输出</a:t>
            </a:r>
            <a:endParaRPr lang="en-US" sz="1800" b="1">
              <a:solidFill>
                <a:srgbClr val="38B2A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62000" y="2159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2159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8B2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476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549400" y="24638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数据采集与实时处理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965200" y="3124200"/>
            <a:ext cx="28956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数据同步：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精确对齐</a:t>
            </a:r>
            <a:r>
              <a:rPr lang="zh-CN" alt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点云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图、RGB图与IMU数据流，确保时空一致性。</a:t>
            </a:r>
            <a:endParaRPr lang="en-US" sz="1200"/>
          </a:p>
          <a:p>
            <a:pPr marL="0" indent="0" algn="l">
              <a:lnSpc>
                <a:spcPct val="150000"/>
              </a:lnSpc>
            </a:pP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实时SLAM：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基于视觉惯性里程计(VIO)融合视觉特征与惯性测量，毫秒级输出设备位姿。</a:t>
            </a:r>
            <a:endParaRPr 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实时点云生成：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将实时深度信息转换为三维点云，实时拼接到全局坐标系，提供即时可视化反馈。</a:t>
            </a:r>
            <a:endParaRPr 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4445000" y="2159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4445000" y="2159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8B2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9000" y="2476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5232400" y="24638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后端精细建模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4648200" y="3124200"/>
            <a:ext cx="28956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全局优化：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通过后端非线性优化算法，消除累计漂移误差，构建全局一致的轨迹与地图。</a:t>
            </a:r>
            <a:endParaRPr lang="en-US" sz="1200"/>
          </a:p>
          <a:p>
            <a:pPr marL="0" indent="0" algn="l">
              <a:lnSpc>
                <a:spcPct val="150000"/>
              </a:lnSpc>
            </a:pP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点云融合与去噪：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多视角点云聚合，并利用统计滤波与体素下采样技术去除噪点，精简数据。</a:t>
            </a:r>
            <a:endParaRPr 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网格重建：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zh-CN" alt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高斯泼溅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算法，将稀疏点云转换为带纹理映射的闭合三维网格模型。</a:t>
            </a:r>
            <a:endParaRPr 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8128000" y="2159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8128000" y="2159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8B2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82000" y="2476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8915400" y="24638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应用输出与赋能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8308975" y="3124200"/>
            <a:ext cx="28956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标准3D模型导出：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支持主流的 OBJ 与 STL 格式，无缝对接专业 CAD 软件进行二次编辑。</a:t>
            </a:r>
            <a:endParaRPr lang="en-US" sz="1200"/>
          </a:p>
          <a:p>
            <a:pPr marL="0" indent="0" algn="l">
              <a:lnSpc>
                <a:spcPct val="150000"/>
              </a:lnSpc>
            </a:pP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自动CAD图纸生成：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算法自动提取关键尺寸与房间结构，一键生成二维平面布局图(DXF)。</a:t>
            </a:r>
            <a:endParaRPr 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轻量化应用支持：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支持导出 glTF/USDZ 等轻量级格式，适用于网页预览、增强现实(AR)与虚拟展厅。</a:t>
            </a:r>
            <a:endParaRPr 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可行性分析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800" b="1" i="0" u="none" strike="noStrike">
                <a:solidFill>
                  <a:srgbClr val="38B2A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可行性分析：技术、市场、经济三方面论证</a:t>
            </a:r>
            <a:endParaRPr lang="en-US" sz="1800" b="1">
              <a:solidFill>
                <a:srgbClr val="38B2A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49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651000" y="23114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技术可行性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016000" y="3175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硬件基础：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消费级深度相机和x86计算平台技术成熟，成本可控，易于集成。</a:t>
            </a:r>
            <a:endParaRPr lang="en-US" sz="1200"/>
          </a:p>
          <a:p>
            <a:pPr marL="0"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算法基础：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VIO、SLAM等相关核心算法已有大量成熟开源实现，为本项目提供坚实基础。</a:t>
            </a:r>
            <a:endParaRPr 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spcBef>
                <a:spcPts val="1500"/>
              </a:spcBef>
            </a:pPr>
            <a:endParaRPr 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4445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2349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5334000" y="23114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市场可行性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4699000" y="3175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需求明确：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服务机器人、移动机器人部署前建图</a:t>
            </a:r>
            <a:r>
              <a:rPr lang="zh-CN" alt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、巡检运维团队</a:t>
            </a:r>
            <a:endParaRPr lang="zh-CN" alt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市场空白：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当前市场缺少专门针对C端和中小B端、兼具易用性与高性价比的专业产品。</a:t>
            </a:r>
            <a:endParaRPr 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spcBef>
                <a:spcPts val="1500"/>
              </a:spcBef>
            </a:pP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8128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82000" y="2349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9017000" y="23114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经济可行性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382000" y="3175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成本可控：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核心组件均采用成熟的消费级元器件方案，相比工业级设备BOM成本显著降低。</a:t>
            </a:r>
            <a:endParaRPr lang="en-US" sz="1200"/>
          </a:p>
          <a:p>
            <a:pPr marL="0"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预期收益：</a:t>
            </a:r>
            <a:r>
              <a:rPr 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家装与室内设计市场存量巨大，产品若能快速渗透，将具备良好的盈利前景。</a:t>
            </a:r>
            <a:endParaRPr 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spcBef>
                <a:spcPts val="1500"/>
              </a:spcBef>
            </a:pPr>
            <a:endParaRPr 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</a:t>
            </a:r>
            <a:r>
              <a:rPr lang="zh-CN" altLang="en-US" sz="3200" b="1" i="0" u="none" strike="noStrike" dirty="0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团队分工</a:t>
            </a:r>
            <a:r>
              <a:rPr lang="en-US" altLang="zh-CN" sz="3200" b="1" i="0" u="none" strike="noStrike" dirty="0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zh-CN" altLang="en-US" sz="3200" b="1" i="0" u="none" strike="noStrike" dirty="0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时间规划</a:t>
            </a:r>
            <a:endParaRPr lang="en-US" sz="1100" dirty="0"/>
          </a:p>
        </p:txBody>
      </p:sp>
      <p:graphicFrame>
        <p:nvGraphicFramePr>
          <p:cNvPr id="3" name="表格 2"/>
          <p:cNvGraphicFramePr/>
          <p:nvPr/>
        </p:nvGraphicFramePr>
        <p:xfrm>
          <a:off x="762000" y="1242060"/>
          <a:ext cx="10114915" cy="5086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2780"/>
                <a:gridCol w="5547995"/>
                <a:gridCol w="1374140"/>
              </a:tblGrid>
              <a:tr h="594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Noto Sans SC" panose="020B0200000000000000" charset="-122"/>
                          <a:ea typeface="Noto Sans SC" panose="020B0200000000000000" charset="-122"/>
                          <a:cs typeface="Times New Roman" panose="02020603050405020304" pitchFamily="18" charset="0"/>
                          <a:sym typeface="+mn-ea"/>
                        </a:rPr>
                        <a:t>阶段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effectLst/>
                        <a:latin typeface="Noto Sans SC" panose="020B0200000000000000" charset="-122"/>
                        <a:ea typeface="Noto Sans SC" panose="020B0200000000000000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Noto Sans SC" panose="020B0200000000000000" charset="-122"/>
                          <a:ea typeface="Noto Sans SC" panose="020B0200000000000000" charset="-122"/>
                          <a:cs typeface="Times New Roman" panose="02020603050405020304" pitchFamily="18" charset="0"/>
                          <a:sym typeface="+mn-ea"/>
                        </a:rPr>
                        <a:t>实践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Noto Sans SC" panose="020B0200000000000000" charset="-122"/>
                          <a:ea typeface="Noto Sans SC" panose="020B0200000000000000" charset="-122"/>
                          <a:cs typeface="Times New Roman" panose="02020603050405020304" pitchFamily="18" charset="0"/>
                          <a:sym typeface="+mn-ea"/>
                        </a:rPr>
                        <a:t>内容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Noto Sans SC" panose="020B0200000000000000" charset="-122"/>
                          <a:ea typeface="Noto Sans SC" panose="020B0200000000000000" charset="-122"/>
                          <a:cs typeface="Times New Roman" panose="02020603050405020304" pitchFamily="18" charset="0"/>
                          <a:sym typeface="+mn-ea"/>
                        </a:rPr>
                        <a:t>负责人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effectLst/>
                        <a:latin typeface="Noto Sans SC" panose="020B0200000000000000" charset="-122"/>
                        <a:ea typeface="Noto Sans SC" panose="020B0200000000000000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1141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 dirty="0" err="1">
                          <a:effectLst/>
                          <a:latin typeface="Noto Sans SC" panose="020B0200000000000000" charset="-122"/>
                          <a:ea typeface="Noto Sans SC" panose="020B0200000000000000" charset="-122"/>
                          <a:cs typeface="Times New Roman" panose="02020603050405020304" pitchFamily="18" charset="0"/>
                          <a:sym typeface="+mn-ea"/>
                        </a:rPr>
                        <a:t>week1</a:t>
                      </a:r>
                      <a:endParaRPr lang="en-US" altLang="en-US" sz="1400" dirty="0" err="1">
                        <a:effectLst/>
                        <a:latin typeface="Noto Sans SC" panose="020B0200000000000000" charset="-122"/>
                        <a:ea typeface="Noto Sans SC" panose="020B0200000000000000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相机驱动、雷达驱动                      </a:t>
                      </a:r>
                      <a:r>
                        <a:rPr lang="en-US" altLang="zh-CN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1</a:t>
                      </a: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天</a:t>
                      </a:r>
                      <a:endParaRPr lang="zh-CN" altLang="en-US" sz="1400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硬件脉冲同步板设计                      </a:t>
                      </a:r>
                      <a:r>
                        <a:rPr lang="en-US" altLang="zh-CN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2</a:t>
                      </a: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天</a:t>
                      </a:r>
                      <a:endParaRPr lang="zh-CN" altLang="en-US" sz="1400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外观结构设计                                    </a:t>
                      </a:r>
                      <a:r>
                        <a:rPr lang="en-US" altLang="zh-CN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2</a:t>
                      </a: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天</a:t>
                      </a:r>
                      <a:endParaRPr lang="zh-CN" altLang="en-US" sz="1400" dirty="0">
                        <a:effectLst/>
                        <a:latin typeface="Noto Sans SC" panose="020B0200000000000000" charset="-122"/>
                        <a:ea typeface="Noto Sans SC" panose="020B0200000000000000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罗瑾仪</a:t>
                      </a:r>
                      <a:endParaRPr lang="zh-CN" altLang="en-US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郑蒋</a:t>
                      </a:r>
                      <a:endParaRPr lang="zh-CN" altLang="en-US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罗瑾仪</a:t>
                      </a:r>
                      <a:endParaRPr lang="zh-CN" altLang="en-US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anchor="ctr" anchorCtr="0"/>
                </a:tc>
              </a:tr>
              <a:tr h="11404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dirty="0" err="1">
                          <a:effectLst/>
                          <a:latin typeface="Noto Sans SC" panose="020B0200000000000000" charset="-122"/>
                          <a:ea typeface="Noto Sans SC" panose="020B0200000000000000" charset="-122"/>
                          <a:cs typeface="Times New Roman" panose="02020603050405020304" pitchFamily="18" charset="0"/>
                          <a:sym typeface="+mn-ea"/>
                        </a:rPr>
                        <a:t>week2</a:t>
                      </a:r>
                      <a:endParaRPr lang="en-US" altLang="en-US" sz="1400" dirty="0" err="1">
                        <a:effectLst/>
                        <a:latin typeface="Noto Sans SC" panose="020B0200000000000000" charset="-122"/>
                        <a:ea typeface="Noto Sans SC" panose="020B0200000000000000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标定板制作</a:t>
                      </a:r>
                      <a:r>
                        <a:rPr lang="en-US" altLang="zh-CN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	                                        1</a:t>
                      </a: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天</a:t>
                      </a:r>
                      <a:endParaRPr lang="en-US" altLang="zh-CN" sz="1400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传感器联合标定                                </a:t>
                      </a:r>
                      <a:r>
                        <a:rPr lang="en-US" altLang="zh-CN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2</a:t>
                      </a: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天</a:t>
                      </a:r>
                      <a:endParaRPr lang="zh-CN" altLang="en-US" sz="1400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多传感器数据同步                            </a:t>
                      </a:r>
                      <a:r>
                        <a:rPr lang="en-US" altLang="zh-CN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2</a:t>
                      </a: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天</a:t>
                      </a:r>
                      <a:endParaRPr lang="zh-CN" altLang="en-US" sz="1400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罗瑾仪</a:t>
                      </a:r>
                      <a:endParaRPr lang="zh-CN" altLang="en-US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黄志雁</a:t>
                      </a:r>
                      <a:endParaRPr lang="zh-CN" altLang="en-US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郑蒋</a:t>
                      </a:r>
                      <a:endParaRPr lang="zh-CN" altLang="en-US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anchor="ctr" anchorCtr="0"/>
                </a:tc>
              </a:tr>
              <a:tr h="10699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 dirty="0" err="1">
                          <a:effectLst/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week3</a:t>
                      </a:r>
                      <a:endParaRPr lang="en-US" sz="1400" dirty="0" err="1">
                        <a:effectLst/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紧耦合</a:t>
                      </a:r>
                      <a:r>
                        <a:rPr lang="en-US" altLang="zh-CN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slam</a:t>
                      </a: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算法开发                       </a:t>
                      </a:r>
                      <a:r>
                        <a:rPr lang="en-US" altLang="zh-CN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5</a:t>
                      </a: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天</a:t>
                      </a:r>
                      <a:endParaRPr lang="zh-CN" altLang="en-US" sz="1400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zh-CN" altLang="en-US" sz="1400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黄志雁</a:t>
                      </a:r>
                      <a:endParaRPr lang="zh-CN" altLang="en-US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郑蒋</a:t>
                      </a:r>
                      <a:endParaRPr lang="zh-CN" altLang="en-US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anchor="ctr" anchorCtr="0"/>
                </a:tc>
              </a:tr>
              <a:tr h="11404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>
                          <a:effectLst/>
                          <a:latin typeface="Noto Sans SC" panose="020B0200000000000000" charset="-122"/>
                          <a:ea typeface="Noto Sans SC" panose="020B0200000000000000" charset="-122"/>
                          <a:cs typeface="Times New Roman" panose="02020603050405020304" pitchFamily="18" charset="0"/>
                          <a:sym typeface="+mn-ea"/>
                        </a:rPr>
                        <a:t>week4</a:t>
                      </a:r>
                      <a:endParaRPr lang="en-US" altLang="en-US" sz="1400">
                        <a:effectLst/>
                        <a:latin typeface="Noto Sans SC" panose="020B0200000000000000" charset="-122"/>
                        <a:ea typeface="Noto Sans SC" panose="020B0200000000000000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点云去畸变、降采样                         </a:t>
                      </a:r>
                      <a:r>
                        <a:rPr lang="en-US" altLang="zh-CN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2</a:t>
                      </a: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天</a:t>
                      </a:r>
                      <a:endParaRPr lang="zh-CN" altLang="en-US" sz="1400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地图导出、点云上色可视化            </a:t>
                      </a:r>
                      <a:r>
                        <a:rPr lang="en-US" altLang="zh-CN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2</a:t>
                      </a:r>
                      <a:r>
                        <a:rPr lang="zh-CN" altLang="en-US" sz="1400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天</a:t>
                      </a:r>
                      <a:endParaRPr lang="zh-CN" altLang="en-US" sz="1400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zh-CN" altLang="en-US" sz="1400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罗瑾仪</a:t>
                      </a:r>
                      <a:endParaRPr lang="zh-CN" altLang="en-US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罗瑾仪</a:t>
                      </a:r>
                      <a:endParaRPr lang="zh-CN" altLang="en-US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  <a:p>
                      <a:pPr algn="ctr">
                        <a:buNone/>
                      </a:pPr>
                      <a:endParaRPr lang="zh-CN" altLang="en-US"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711440" y="1208405"/>
            <a:ext cx="409067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br>
              <a:rPr lang="zh-CN" altLang="en-US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</a:br>
            <a:endParaRPr lang="zh-CN" altLang="en-US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D374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556000"/>
            <a:ext cx="1066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46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欢迎各位批评指正，提出宝贵建议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0,&quot;left&quot;:60,&quot;top&quot;:160,&quot;width&quot;:410}"/>
</p:tagLst>
</file>

<file path=ppt/tags/tag2.xml><?xml version="1.0" encoding="utf-8"?>
<p:tagLst xmlns:p="http://schemas.openxmlformats.org/presentationml/2006/main">
  <p:tag name="KSO_WM_DIAGRAM_VIRTUALLY_FRAME" val="{&quot;height&quot;:350,&quot;left&quot;:60,&quot;top&quot;:160,&quot;width&quot;:410}"/>
</p:tagLst>
</file>

<file path=ppt/tags/tag3.xml><?xml version="1.0" encoding="utf-8"?>
<p:tagLst xmlns:p="http://schemas.openxmlformats.org/presentationml/2006/main">
  <p:tag name="KSO_WM_DIAGRAM_VIRTUALLY_FRAME" val="{&quot;height&quot;:350,&quot;left&quot;:60,&quot;top&quot;:160,&quot;width&quot;:410}"/>
</p:tagLst>
</file>

<file path=ppt/tags/tag4.xml><?xml version="1.0" encoding="utf-8"?>
<p:tagLst xmlns:p="http://schemas.openxmlformats.org/presentationml/2006/main">
  <p:tag name="KSO_WM_DIAGRAM_VIRTUALLY_FRAME" val="{&quot;height&quot;:350,&quot;left&quot;:60,&quot;top&quot;:160,&quot;width&quot;:410}"/>
</p:tagLst>
</file>

<file path=ppt/tags/tag5.xml><?xml version="1.0" encoding="utf-8"?>
<p:tagLst xmlns:p="http://schemas.openxmlformats.org/presentationml/2006/main">
  <p:tag name="KSO_WM_DIAGRAM_VIRTUALLY_FRAME" val="{&quot;height&quot;:350,&quot;left&quot;:60,&quot;top&quot;:160,&quot;width&quot;:410}"/>
</p:tagLst>
</file>

<file path=ppt/tags/tag6.xml><?xml version="1.0" encoding="utf-8"?>
<p:tagLst xmlns:p="http://schemas.openxmlformats.org/presentationml/2006/main">
  <p:tag name="KSO_WM_DIAGRAM_VIRTUALLY_FRAME" val="{&quot;height&quot;:350,&quot;left&quot;:60,&quot;top&quot;:160,&quot;width&quot;:410}"/>
</p:tagLst>
</file>

<file path=ppt/tags/tag7.xml><?xml version="1.0" encoding="utf-8"?>
<p:tagLst xmlns:p="http://schemas.openxmlformats.org/presentationml/2006/main">
  <p:tag name="KSO_WM_DIAGRAM_VIRTUALLY_FRAME" val="{&quot;height&quot;:350,&quot;left&quot;:60,&quot;top&quot;:160,&quot;width&quot;:410}"/>
</p:tagLst>
</file>

<file path=ppt/tags/tag8.xml><?xml version="1.0" encoding="utf-8"?>
<p:tagLst xmlns:p="http://schemas.openxmlformats.org/presentationml/2006/main">
  <p:tag name="KSO_WM_DIAGRAM_VIRTUALLY_FRAME" val="{&quot;height&quot;:350,&quot;left&quot;:60,&quot;top&quot;:160,&quot;width&quot;:410}"/>
</p:tagLst>
</file>

<file path=ppt/tags/tag9.xml><?xml version="1.0" encoding="utf-8"?>
<p:tagLst xmlns:p="http://schemas.openxmlformats.org/presentationml/2006/main">
  <p:tag name="KSO_WM_DIAGRAM_VIRTUALLY_FRAME" val="{&quot;height&quot;:245,&quot;left&quot;:60,&quot;top&quot;:260,&quot;width&quot;:840}"/>
</p:tagLst>
</file>

<file path=ppt/tags/tag10.xml><?xml version="1.0" encoding="utf-8"?>
<p:tagLst xmlns:p="http://schemas.openxmlformats.org/presentationml/2006/main">
  <p:tag name="KSO_WM_DIAGRAM_VIRTUALLY_FRAME" val="{&quot;height&quot;:245,&quot;left&quot;:60,&quot;top&quot;:260,&quot;width&quot;:840}"/>
</p:tagLst>
</file>

<file path=ppt/tags/tag11.xml><?xml version="1.0" encoding="utf-8"?>
<p:tagLst xmlns:p="http://schemas.openxmlformats.org/presentationml/2006/main">
  <p:tag name="KSO_WM_DIAGRAM_VIRTUALLY_FRAME" val="{&quot;height&quot;:245,&quot;left&quot;:60,&quot;top&quot;:260,&quot;width&quot;:840}"/>
</p:tagLst>
</file>

<file path=ppt/tags/tag12.xml><?xml version="1.0" encoding="utf-8"?>
<p:tagLst xmlns:p="http://schemas.openxmlformats.org/presentationml/2006/main">
  <p:tag name="KSO_WM_DIAGRAM_VIRTUALLY_FRAME" val="{&quot;height&quot;:245,&quot;left&quot;:60,&quot;top&quot;:260,&quot;width&quot;:840}"/>
</p:tagLst>
</file>

<file path=ppt/tags/tag13.xml><?xml version="1.0" encoding="utf-8"?>
<p:tagLst xmlns:p="http://schemas.openxmlformats.org/presentationml/2006/main">
  <p:tag name="KSO_WM_DIAGRAM_VIRTUALLY_FRAME" val="{&quot;height&quot;:245,&quot;left&quot;:60,&quot;top&quot;:260,&quot;width&quot;:840}"/>
</p:tagLst>
</file>

<file path=ppt/tags/tag14.xml><?xml version="1.0" encoding="utf-8"?>
<p:tagLst xmlns:p="http://schemas.openxmlformats.org/presentationml/2006/main">
  <p:tag name="KSO_WM_DIAGRAM_VIRTUALLY_FRAME" val="{&quot;height&quot;:245,&quot;left&quot;:60,&quot;top&quot;:260,&quot;width&quot;:840}"/>
</p:tagLst>
</file>

<file path=ppt/tags/tag15.xml><?xml version="1.0" encoding="utf-8"?>
<p:tagLst xmlns:p="http://schemas.openxmlformats.org/presentationml/2006/main">
  <p:tag name="KSO_WM_DIAGRAM_VIRTUALLY_FRAME" val="{&quot;height&quot;:245,&quot;left&quot;:60,&quot;top&quot;:260,&quot;width&quot;:840}"/>
</p:tagLst>
</file>

<file path=ppt/tags/tag16.xml><?xml version="1.0" encoding="utf-8"?>
<p:tagLst xmlns:p="http://schemas.openxmlformats.org/presentationml/2006/main">
  <p:tag name="KSO_WM_DIAGRAM_VIRTUALLY_FRAME" val="{&quot;height&quot;:245,&quot;left&quot;:60,&quot;top&quot;:260,&quot;width&quot;:840}"/>
</p:tagLst>
</file>

<file path=ppt/tags/tag17.xml><?xml version="1.0" encoding="utf-8"?>
<p:tagLst xmlns:p="http://schemas.openxmlformats.org/presentationml/2006/main">
  <p:tag name="KSO_WM_DIAGRAM_VIRTUALLY_FRAME" val="{&quot;height&quot;:245,&quot;left&quot;:60,&quot;top&quot;:260,&quot;width&quot;:840}"/>
</p:tagLst>
</file>

<file path=ppt/tags/tag18.xml><?xml version="1.0" encoding="utf-8"?>
<p:tagLst xmlns:p="http://schemas.openxmlformats.org/presentationml/2006/main">
  <p:tag name="KSO_WM_DIAGRAM_VIRTUALLY_FRAME" val="{&quot;height&quot;:245,&quot;left&quot;:60,&quot;top&quot;:260,&quot;width&quot;:840}"/>
</p:tagLst>
</file>

<file path=ppt/tags/tag19.xml><?xml version="1.0" encoding="utf-8"?>
<p:tagLst xmlns:p="http://schemas.openxmlformats.org/presentationml/2006/main">
  <p:tag name="KSO_WM_DIAGRAM_VIRTUALLY_FRAME" val="{&quot;height&quot;:245,&quot;left&quot;:60,&quot;top&quot;:260,&quot;width&quot;:840}"/>
</p:tagLst>
</file>

<file path=ppt/tags/tag20.xml><?xml version="1.0" encoding="utf-8"?>
<p:tagLst xmlns:p="http://schemas.openxmlformats.org/presentationml/2006/main">
  <p:tag name="KSO_WM_DIAGRAM_VIRTUALLY_FRAME" val="{&quot;height&quot;:245,&quot;left&quot;:60,&quot;top&quot;:260,&quot;width&quot;:840}"/>
</p:tagLst>
</file>

<file path=ppt/tags/tag21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22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23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24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25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26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27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28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29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30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31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32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33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34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35.xml><?xml version="1.0" encoding="utf-8"?>
<p:tagLst xmlns:p="http://schemas.openxmlformats.org/presentationml/2006/main">
  <p:tag name="KSO_WM_DIAGRAM_VIRTUALLY_FRAME" val="{&quot;height&quot;:330,&quot;left&quot;:60,&quot;top&quot;:170,&quot;width&quot;:840}"/>
</p:tagLst>
</file>

<file path=ppt/tags/tag36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37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38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39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0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1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2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3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4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5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6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7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3121</Words>
  <Application>WPS 演示</Application>
  <PresentationFormat>宽屏</PresentationFormat>
  <Paragraphs>253</Paragraphs>
  <Slides>12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Sans SC</vt:lpstr>
      <vt:lpstr>黑体</vt:lpstr>
      <vt:lpstr>Times New Roman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13540</cp:lastModifiedBy>
  <cp:revision>57</cp:revision>
  <dcterms:created xsi:type="dcterms:W3CDTF">2026-05-25T08:43:00Z</dcterms:created>
  <dcterms:modified xsi:type="dcterms:W3CDTF">2026-05-25T18:05:38Z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{"Label":"1","ContentProducer":"001191110102MACQD9K64010000","ProduceID":"7643747033935252689","ReservedCode1":"","ContentPropagator":"","PropagateID":"","ReservedCode2":""}</vt:lpwstr>
  </property>
  <property fmtid="{D5CDD505-2E9C-101B-9397-08002B2CF9AE}" pid="3" name="KSOProductBuildVer">
    <vt:lpwstr>2052-11.8.2.8959</vt:lpwstr>
  </property>
  <property fmtid="{D5CDD505-2E9C-101B-9397-08002B2CF9AE}" pid="4" name="ICV">
    <vt:lpwstr>6F98925269074F838B8C57129331EC16_13</vt:lpwstr>
  </property>
</Properties>
</file>